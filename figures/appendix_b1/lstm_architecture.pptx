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5240000" cy="10160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13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CD7997-E776-4759-89A7-BA344E752B44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E5AC4D-D043-4780-B18E-47CC9A4ED0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788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en-US" altLang="zh-CN"/>
              <ns1:t/>
            </ns1:r>
          </ns1:p>
          <ns1:p>
            <ns1:r>
              <ns1:rPr lang="en-US" altLang="zh-CN"/>
              <ns1:t/>
            </ns1:r>
          </ns1:p>
          <ns1:p>
            <ns1:r>
              <ns1:rPr lang="en-US" altLang="zh-CN"/>
              <ns1:t/>
            </ns1:r>
          </ns1:p>
          <ns1:p>
            <ns1:r>
              <ns1:rPr lang="en-US" altLang="zh-CN"/>
              <ns1:t/>
            </ns1:r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5"/>
          </ns0:nvPr>
        </ns0:nvSpPr>
        <ns0:spPr/>
        <ns0:txBody>
          <ns1:bodyPr/>
          <ns1:lstStyle/>
          <ns1:p>
            <ns1:fld id="{5AE5AC4D-D043-4780-B18E-47CC9A4ED0C6}" type="slidenum">
              <ns1:rPr lang="zh-CN" altLang="en-US" smtClean="0"/>
              <ns1:t/>
            </ns1:fld>
            <ns1:endParaRPr lang="zh-CN" altLang="en-US"/>
          </ns1:p>
        </ns0:txBody>
      </ns0:sp>
    </ns0:spTree>
    <ns0:extLst>
      <ns0:ext uri="{BB962C8B-B14F-4D97-AF65-F5344CB8AC3E}">
        <ns2:creationId val="2409805546"/>
      </ns0:ext>
    </ns0:extLst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rPr lang="en-US" altLang="zh-CN"/>
              <ns1:t/>
            </ns1:r>
          </ns1:p>
          <ns1:p>
            <ns1:r>
              <ns1:rPr lang="en-US" altLang="zh-CN"/>
              <ns1:t/>
            </ns1:r>
          </ns1:p>
          <ns1:p>
            <ns1:r>
              <ns1:rPr lang="en-US" altLang="zh-CN"/>
              <ns1:t/>
            </ns1:r>
          </ns1:p>
          <ns1:p>
            <ns1:r>
              <ns1:rPr lang="en-US" altLang="zh-CN"/>
              <ns1:t/>
            </ns1:r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5"/>
          </ns0:nvPr>
        </ns0:nvSpPr>
        <ns0:spPr/>
        <ns0:txBody>
          <ns1:bodyPr/>
          <ns1:lstStyle/>
          <ns1:p>
            <ns1:fld id="{5AE5AC4D-D043-4780-B18E-47CC9A4ED0C6}" type="slidenum">
              <ns1:rPr lang="zh-CN" altLang="en-US" smtClean="0"/>
              <ns1:t/>
            </ns1:fld>
            <ns1:endParaRPr lang="zh-CN" altLang="en-US"/>
          </ns1:p>
        </ns0:txBody>
      </ns0:sp>
    </ns0:spTree>
    <ns0:extLst>
      <ns0:ext uri="{BB962C8B-B14F-4D97-AF65-F5344CB8AC3E}">
        <ns2:creationId val="3917127980"/>
      </ns0:ext>
    </ns0:extLst>
  </ns0:cSld>
  <ns0:clrMapOvr>
    <ns1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145D79-B8C1-0FC1-C5E9-B45493CD4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1662760"/>
            <a:ext cx="11430000" cy="353718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B6289E-53B0-EB76-8A81-0D97BA821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5336352"/>
            <a:ext cx="11430000" cy="245298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F0F6CA-C118-A428-34D1-5A4E66EB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A8A91-9674-4519-A602-E5152D3CF4C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FF4F02-D497-51A4-DF80-74B43370C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DBF35F-88CE-0DEE-0CA1-5F2AEF997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BD4A-7CA4-436D-8285-8476B3339F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694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FE87CC-7AAF-F494-A265-3A6CC6CAD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95DF74-E133-961C-0F7E-E716E5E05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1B2367-A2F2-D6CD-E25D-806E31610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A8A91-9674-4519-A602-E5152D3CF4C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4C8BFF-0545-A32B-6F00-22D11F3FD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394430-D496-F6D1-D8A9-C4592F374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BD4A-7CA4-436D-8285-8476B3339F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845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32F0A2-2263-A9B2-EA0A-81ACC78B4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813" y="2532947"/>
            <a:ext cx="13144500" cy="422627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70CC8D-3C67-F8AF-03A9-039F0A484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813" y="6799207"/>
            <a:ext cx="13144500" cy="22224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5A21A6-0229-B368-C63F-4FFDD55A2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A8A91-9674-4519-A602-E5152D3CF4C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8F869D-7B04-8C4A-DCA7-4957A3DE9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66460E-22B2-9F98-AD8A-354D1DEA9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BD4A-7CA4-436D-8285-8476B3339F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801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C5172-1AB4-CC08-9561-38084B7BC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520B96-6ADE-5D8B-A44F-C5FD016AD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7750" y="2704629"/>
            <a:ext cx="6477000" cy="644642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B9AA36-54C1-2801-E235-127F36DBF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15250" y="2704629"/>
            <a:ext cx="6477000" cy="644642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4CDF3B-BA3D-1ED9-F279-CA5CEDFDA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A8A91-9674-4519-A602-E5152D3CF4C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460C28-9A76-8D1D-65DD-EE4DAA635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A19EF6-33FD-8404-206B-C99767E4B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BD4A-7CA4-436D-8285-8476B3339F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940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B316B8-2488-0600-0CF9-BB3165C25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35" y="540928"/>
            <a:ext cx="13144500" cy="196379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96B019-C99C-BB02-6B61-F9493E7CA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9736" y="2490612"/>
            <a:ext cx="6447234" cy="12206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4B5031-8326-97E3-FFEC-317C8E292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9736" y="3711222"/>
            <a:ext cx="6447234" cy="545864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93A9ED5-C355-2A99-CF3C-25DCAB248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15251" y="2490612"/>
            <a:ext cx="6478985" cy="12206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78AC30A-987F-5D26-EC31-58934ADEA1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15251" y="3711222"/>
            <a:ext cx="6478985" cy="545864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9A50E99-27FF-3F13-5BF8-849DE176E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A8A91-9674-4519-A602-E5152D3CF4C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FF5D77A-A9C1-A136-5218-88436576F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4B66DB-BAF3-3A4E-CB45-CC06935B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BD4A-7CA4-436D-8285-8476B3339F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325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4CE297-E33F-10AF-DCB7-413844262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1594C2-84F7-AE25-B5B3-50306875A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A8A91-9674-4519-A602-E5152D3CF4C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B0DFCE-C611-69A8-0C01-9D0257200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C668BF9-11BC-D644-7ACA-A7AADFCD8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BD4A-7CA4-436D-8285-8476B3339F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61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36A527-D169-8286-F571-1E6EE6175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A8A91-9674-4519-A602-E5152D3CF4C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C79C3D7-045D-17BE-DE3A-72DFD1A04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48A2DD-30EC-F25C-FCB8-45F2AD5BB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BD4A-7CA4-436D-8285-8476B3339F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723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548DE6-773E-B47F-DCF4-4AD94426C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36" y="677333"/>
            <a:ext cx="4915296" cy="23706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5ED4B0-6B7D-454E-3CB0-89AD12857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8985" y="1462854"/>
            <a:ext cx="7715250" cy="72201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50A79C-E6F6-4C83-6107-33AF058C3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736" y="3048000"/>
            <a:ext cx="4915296" cy="56467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F43E9E-BA4B-3B7F-BC0C-82E087815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A8A91-9674-4519-A602-E5152D3CF4C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93155E-9ED4-1579-B927-6BC2F5DE1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F74D34-ABAA-4081-71B5-24EDB14A8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BD4A-7CA4-436D-8285-8476B3339F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24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10F025-D39E-74E6-737F-306009B0D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36" y="677333"/>
            <a:ext cx="4915296" cy="23706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BB74DC-B9EB-1F1C-D312-88B5945CFF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78985" y="1462854"/>
            <a:ext cx="7715250" cy="72201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C6C0BA-52B9-9E73-82BD-83A682A2B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736" y="3048000"/>
            <a:ext cx="4915296" cy="56467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F1CFDF-0B74-57EF-891B-D6514D6EC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A8A91-9674-4519-A602-E5152D3CF4C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1EBD3B-2594-1E42-DD27-0E2A39841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7EC695-D1CE-4AFA-2475-4527688AA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BD4A-7CA4-436D-8285-8476B3339F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70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EADEE-8DFD-A90F-67EA-605DC82CC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CEF75D-EACC-597C-78D1-448AF8523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03BF15-F7E8-C865-96B0-E1012AD02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A8A91-9674-4519-A602-E5152D3CF4C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D4DC91-AB41-B7D6-7DF6-2A40752B7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437FF0-9F50-36DF-069B-548295D34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BD4A-7CA4-436D-8285-8476B3339F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57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47B93E4-FAC9-C674-22AA-148608253D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906126" y="540926"/>
            <a:ext cx="3286125" cy="861013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5907EA-8587-9B4D-C3B1-188193B3F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47751" y="540926"/>
            <a:ext cx="9667875" cy="861013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4D86E2-23AB-C2DC-417A-64CE286B9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A8A91-9674-4519-A602-E5152D3CF4C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2D6535-3E10-DA0A-5410-86B6D4583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72EC80-7AD9-37E5-C010-792737C93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BD4A-7CA4-436D-8285-8476B3339F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626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2BCA85-16F8-F9B8-4963-ACC2F59CB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0" y="540928"/>
            <a:ext cx="13144500" cy="1963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BE5585-5236-78F1-C88C-2F71792E5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7750" y="2704629"/>
            <a:ext cx="13144500" cy="6446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67D1A3-91BA-42BA-1EE9-BFBCBE4B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" y="9416817"/>
            <a:ext cx="3429000" cy="5409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A8A91-9674-4519-A602-E5152D3CF4C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FAC50C-A87E-465C-6211-AA2147F96B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8250" y="9416817"/>
            <a:ext cx="5143500" cy="5409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9F1D60-0B01-CE6D-5428-4E9A3BFE2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9416817"/>
            <a:ext cx="3429000" cy="5409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2BD4A-7CA4-436D-8285-8476B3339F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257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observation-to-flatten">
            <a:extLst>
              <a:ext uri="{FF2B5EF4-FFF2-40B4-BE49-F238E27FC236}">
                <a16:creationId xmlns:a16="http://schemas.microsoft.com/office/drawing/2014/main" id="{1C074585-CA9B-5C92-75BA-EA2A046D63D1}"/>
              </a:ext>
            </a:extLst>
          </p:cNvPr>
          <p:cNvCxnSpPr/>
          <p:nvPr/>
        </p:nvCxnSpPr>
        <p:spPr>
          <a:xfrm>
            <a:off x="2476500" y="2540000"/>
            <a:ext cx="381000" cy="0"/>
          </a:xfrm>
          <a:prstGeom prst="straightConnector1">
            <a:avLst/>
          </a:prstGeom>
          <a:ln w="28575">
            <a:solidFill>
              <a:srgbClr val="15608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flatten-to-encoder">
            <a:extLst>
              <a:ext uri="{FF2B5EF4-FFF2-40B4-BE49-F238E27FC236}">
                <a16:creationId xmlns:a16="http://schemas.microsoft.com/office/drawing/2014/main" id="{3F251AE7-0720-D4A0-0EC8-161D692C1BA1}"/>
              </a:ext>
            </a:extLst>
          </p:cNvPr>
          <p:cNvCxnSpPr/>
          <p:nvPr/>
        </p:nvCxnSpPr>
        <p:spPr>
          <a:xfrm>
            <a:off x="4381500" y="2540000"/>
            <a:ext cx="381000" cy="0"/>
          </a:xfrm>
          <a:prstGeom prst="straightConnector1">
            <a:avLst/>
          </a:prstGeom>
          <a:ln w="28575">
            <a:solidFill>
              <a:srgbClr val="15608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ncoder-to-concatenation">
            <a:extLst>
              <a:ext uri="{FF2B5EF4-FFF2-40B4-BE49-F238E27FC236}">
                <a16:creationId xmlns:a16="http://schemas.microsoft.com/office/drawing/2014/main" id="{DE0BB8A4-2594-375C-79B9-2F38F4243222}"/>
              </a:ext>
            </a:extLst>
          </p:cNvPr>
          <p:cNvCxnSpPr/>
          <p:nvPr/>
        </p:nvCxnSpPr>
        <p:spPr>
          <a:xfrm>
            <a:off x="7429500" y="2540000"/>
            <a:ext cx="381000" cy="0"/>
          </a:xfrm>
          <a:prstGeom prst="straightConnector1">
            <a:avLst/>
          </a:prstGeom>
          <a:ln w="28575">
            <a:solidFill>
              <a:srgbClr val="15608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action-to-concatenation">
            <a:extLst>
              <a:ext uri="{FF2B5EF4-FFF2-40B4-BE49-F238E27FC236}">
                <a16:creationId xmlns:a16="http://schemas.microsoft.com/office/drawing/2014/main" id="{F13449F6-2F7B-0A1E-9501-0ABA4915F2DD}"/>
              </a:ext>
            </a:extLst>
          </p:cNvPr>
          <p:cNvCxnSpPr/>
          <p:nvPr/>
        </p:nvCxnSpPr>
        <p:spPr>
          <a:xfrm>
            <a:off x="8763000" y="1397000"/>
            <a:ext cx="0" cy="508000"/>
          </a:xfrm>
          <a:prstGeom prst="straightConnector1">
            <a:avLst/>
          </a:prstGeom>
          <a:ln w="28575">
            <a:solidFill>
              <a:srgbClr val="34A53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input-to-LSTM">
            <a:extLst>
              <a:ext uri="{FF2B5EF4-FFF2-40B4-BE49-F238E27FC236}">
                <a16:creationId xmlns:a16="http://schemas.microsoft.com/office/drawing/2014/main" id="{0422FC64-DCD7-C691-421D-8FA5054AD150}"/>
              </a:ext>
            </a:extLst>
          </p:cNvPr>
          <p:cNvCxnSpPr/>
          <p:nvPr/>
        </p:nvCxnSpPr>
        <p:spPr>
          <a:xfrm>
            <a:off x="9715500" y="2540000"/>
            <a:ext cx="762000" cy="0"/>
          </a:xfrm>
          <a:prstGeom prst="straightConnector1">
            <a:avLst/>
          </a:prstGeom>
          <a:ln w="28575">
            <a:solidFill>
              <a:srgbClr val="15608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previous-hidden-to-LSTM">
            <a:extLst>
              <a:ext uri="{FF2B5EF4-FFF2-40B4-BE49-F238E27FC236}">
                <a16:creationId xmlns:a16="http://schemas.microsoft.com/office/drawing/2014/main" id="{0D4F5F69-EFBA-B104-8218-1183CB0C3901}"/>
              </a:ext>
            </a:extLst>
          </p:cNvPr>
          <p:cNvCxnSpPr/>
          <p:nvPr/>
        </p:nvCxnSpPr>
        <p:spPr>
          <a:xfrm>
            <a:off x="11493500" y="1333500"/>
            <a:ext cx="0" cy="317500"/>
          </a:xfrm>
          <a:prstGeom prst="straightConnector1">
            <a:avLst/>
          </a:prstGeom>
          <a:ln w="28575">
            <a:solidFill>
              <a:srgbClr val="15608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previous-cell-to-LSTM">
            <a:extLst>
              <a:ext uri="{FF2B5EF4-FFF2-40B4-BE49-F238E27FC236}">
                <a16:creationId xmlns:a16="http://schemas.microsoft.com/office/drawing/2014/main" id="{12BE80F5-B208-52CD-BCEF-DCE512F5556F}"/>
              </a:ext>
            </a:extLst>
          </p:cNvPr>
          <p:cNvCxnSpPr/>
          <p:nvPr/>
        </p:nvCxnSpPr>
        <p:spPr>
          <a:xfrm>
            <a:off x="13677900" y="1333500"/>
            <a:ext cx="0" cy="317500"/>
          </a:xfrm>
          <a:prstGeom prst="straightConnector1">
            <a:avLst/>
          </a:prstGeom>
          <a:ln w="28575">
            <a:solidFill>
              <a:srgbClr val="A02B9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STM-to-hidden">
            <a:extLst>
              <a:ext uri="{FF2B5EF4-FFF2-40B4-BE49-F238E27FC236}">
                <a16:creationId xmlns:a16="http://schemas.microsoft.com/office/drawing/2014/main" id="{8BEA9C7C-B584-E6A0-CDCE-07DB88B0CAD9}"/>
              </a:ext>
            </a:extLst>
          </p:cNvPr>
          <p:cNvCxnSpPr/>
          <p:nvPr/>
        </p:nvCxnSpPr>
        <p:spPr>
          <a:xfrm>
            <a:off x="10985500" y="3429000"/>
            <a:ext cx="0" cy="1016000"/>
          </a:xfrm>
          <a:prstGeom prst="straightConnector1">
            <a:avLst/>
          </a:prstGeom>
          <a:ln w="28575">
            <a:solidFill>
              <a:srgbClr val="15608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STM-to-cell">
            <a:extLst>
              <a:ext uri="{FF2B5EF4-FFF2-40B4-BE49-F238E27FC236}">
                <a16:creationId xmlns:a16="http://schemas.microsoft.com/office/drawing/2014/main" id="{4E546BCE-F992-030C-05F3-70AC0523C23D}"/>
              </a:ext>
            </a:extLst>
          </p:cNvPr>
          <p:cNvCxnSpPr/>
          <p:nvPr/>
        </p:nvCxnSpPr>
        <p:spPr>
          <a:xfrm>
            <a:off x="13462000" y="3429000"/>
            <a:ext cx="0" cy="1016000"/>
          </a:xfrm>
          <a:prstGeom prst="straightConnector1">
            <a:avLst/>
          </a:prstGeom>
          <a:ln w="28575">
            <a:solidFill>
              <a:srgbClr val="A02B9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hidden-branch-down">
            <a:extLst>
              <a:ext uri="{FF2B5EF4-FFF2-40B4-BE49-F238E27FC236}">
                <a16:creationId xmlns:a16="http://schemas.microsoft.com/office/drawing/2014/main" id="{29C5B15B-2DA6-1482-C5A2-146DE3D32929}"/>
              </a:ext>
            </a:extLst>
          </p:cNvPr>
          <p:cNvCxnSpPr/>
          <p:nvPr/>
        </p:nvCxnSpPr>
        <p:spPr>
          <a:xfrm>
            <a:off x="10985500" y="5334000"/>
            <a:ext cx="0" cy="508000"/>
          </a:xfrm>
          <a:prstGeom prst="straightConnector1">
            <a:avLst/>
          </a:prstGeom>
          <a:ln w="28575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hidden-to-decoder-horizontal">
            <a:extLst>
              <a:ext uri="{FF2B5EF4-FFF2-40B4-BE49-F238E27FC236}">
                <a16:creationId xmlns:a16="http://schemas.microsoft.com/office/drawing/2014/main" id="{4545783B-AC97-8A08-25CE-5239AD9E63EC}"/>
              </a:ext>
            </a:extLst>
          </p:cNvPr>
          <p:cNvCxnSpPr/>
          <p:nvPr/>
        </p:nvCxnSpPr>
        <p:spPr>
          <a:xfrm flipH="1">
            <a:off x="8826500" y="5842000"/>
            <a:ext cx="2159000" cy="0"/>
          </a:xfrm>
          <a:prstGeom prst="straightConnector1">
            <a:avLst/>
          </a:prstGeom>
          <a:ln w="28575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hidden-to-decoder-down">
            <a:extLst>
              <a:ext uri="{FF2B5EF4-FFF2-40B4-BE49-F238E27FC236}">
                <a16:creationId xmlns:a16="http://schemas.microsoft.com/office/drawing/2014/main" id="{5A6BDAE0-4D8F-0998-D438-E3C1C70CCB25}"/>
              </a:ext>
            </a:extLst>
          </p:cNvPr>
          <p:cNvCxnSpPr/>
          <p:nvPr/>
        </p:nvCxnSpPr>
        <p:spPr>
          <a:xfrm>
            <a:off x="8826500" y="5842000"/>
            <a:ext cx="0" cy="317500"/>
          </a:xfrm>
          <a:prstGeom prst="straightConnector1">
            <a:avLst/>
          </a:prstGeom>
          <a:ln w="28575">
            <a:solidFill>
              <a:srgbClr val="15608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hidden-to-carrier-horizontal">
            <a:extLst>
              <a:ext uri="{FF2B5EF4-FFF2-40B4-BE49-F238E27FC236}">
                <a16:creationId xmlns:a16="http://schemas.microsoft.com/office/drawing/2014/main" id="{B1C01FA0-B3D4-1277-A363-4C8154008F71}"/>
              </a:ext>
            </a:extLst>
          </p:cNvPr>
          <p:cNvCxnSpPr/>
          <p:nvPr/>
        </p:nvCxnSpPr>
        <p:spPr>
          <a:xfrm>
            <a:off x="10985500" y="5842000"/>
            <a:ext cx="1333500" cy="0"/>
          </a:xfrm>
          <a:prstGeom prst="straightConnector1">
            <a:avLst/>
          </a:prstGeom>
          <a:ln w="28575">
            <a:solidFill>
              <a:srgbClr val="FF6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hidden-to-carrier-down">
            <a:extLst>
              <a:ext uri="{FF2B5EF4-FFF2-40B4-BE49-F238E27FC236}">
                <a16:creationId xmlns:a16="http://schemas.microsoft.com/office/drawing/2014/main" id="{251E16D1-0F3A-1BB5-9C96-4135E49C44C3}"/>
              </a:ext>
            </a:extLst>
          </p:cNvPr>
          <p:cNvCxnSpPr/>
          <p:nvPr/>
        </p:nvCxnSpPr>
        <p:spPr>
          <a:xfrm>
            <a:off x="12319000" y="5842000"/>
            <a:ext cx="0" cy="508000"/>
          </a:xfrm>
          <a:prstGeom prst="straightConnector1">
            <a:avLst/>
          </a:prstGeom>
          <a:ln w="28575">
            <a:solidFill>
              <a:srgbClr val="FF6B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ell-to-carrier">
            <a:extLst>
              <a:ext uri="{FF2B5EF4-FFF2-40B4-BE49-F238E27FC236}">
                <a16:creationId xmlns:a16="http://schemas.microsoft.com/office/drawing/2014/main" id="{B60DABD7-A450-2137-E20A-368C986AF077}"/>
              </a:ext>
            </a:extLst>
          </p:cNvPr>
          <p:cNvCxnSpPr/>
          <p:nvPr/>
        </p:nvCxnSpPr>
        <p:spPr>
          <a:xfrm>
            <a:off x="13462000" y="5334000"/>
            <a:ext cx="0" cy="1016000"/>
          </a:xfrm>
          <a:prstGeom prst="straightConnector1">
            <a:avLst/>
          </a:prstGeom>
          <a:ln w="28575">
            <a:solidFill>
              <a:srgbClr val="A02B9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ecoder-to-prediction">
            <a:extLst>
              <a:ext uri="{FF2B5EF4-FFF2-40B4-BE49-F238E27FC236}">
                <a16:creationId xmlns:a16="http://schemas.microsoft.com/office/drawing/2014/main" id="{0255D69B-D599-D544-05AF-637458D11224}"/>
              </a:ext>
            </a:extLst>
          </p:cNvPr>
          <p:cNvCxnSpPr/>
          <p:nvPr/>
        </p:nvCxnSpPr>
        <p:spPr>
          <a:xfrm>
            <a:off x="8826500" y="8128000"/>
            <a:ext cx="0" cy="508000"/>
          </a:xfrm>
          <a:prstGeom prst="straightConnector1">
            <a:avLst/>
          </a:prstGeom>
          <a:ln w="28575">
            <a:solidFill>
              <a:srgbClr val="15608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arrier-to-uses">
            <a:extLst>
              <a:ext uri="{FF2B5EF4-FFF2-40B4-BE49-F238E27FC236}">
                <a16:creationId xmlns:a16="http://schemas.microsoft.com/office/drawing/2014/main" id="{126B3953-B80E-9E7E-4C68-6264E82486B9}"/>
              </a:ext>
            </a:extLst>
          </p:cNvPr>
          <p:cNvCxnSpPr/>
          <p:nvPr/>
        </p:nvCxnSpPr>
        <p:spPr>
          <a:xfrm>
            <a:off x="12915900" y="7620000"/>
            <a:ext cx="0" cy="635000"/>
          </a:xfrm>
          <a:prstGeom prst="straightConnector1">
            <a:avLst/>
          </a:prstGeom>
          <a:ln w="28575">
            <a:solidFill>
              <a:srgbClr val="FF6B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igure-title">
            <a:extLst>
              <a:ext uri="{FF2B5EF4-FFF2-40B4-BE49-F238E27FC236}">
                <a16:creationId xmlns:a16="http://schemas.microsoft.com/office/drawing/2014/main" id="{D8A9FBE3-7372-4B38-6F84-6AA0FB93BFB7}"/>
              </a:ext>
            </a:extLst>
          </p:cNvPr>
          <p:cNvSpPr txBox="1"/>
          <p:nvPr/>
        </p:nvSpPr>
        <p:spPr>
          <a:xfrm>
            <a:off x="508000" y="381000"/>
            <a:ext cx="6985000" cy="45653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(a)    Monolithic LSTM comparator</a:t>
            </a:r>
            <a:endParaRPr lang="zh-CN" altLang="en-US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figure-subtitle">
            <a:extLst>
              <a:ext uri="{FF2B5EF4-FFF2-40B4-BE49-F238E27FC236}">
                <a16:creationId xmlns:a16="http://schemas.microsoft.com/office/drawing/2014/main" id="{8AE6EDFB-7227-D2F9-8ADD-104639AFFE0D}"/>
              </a:ext>
            </a:extLst>
          </p:cNvPr>
          <p:cNvSpPr txBox="1"/>
          <p:nvPr/>
        </p:nvSpPr>
        <p:spPr>
          <a:xfrm>
            <a:off x="508000" y="902696"/>
            <a:ext cx="6985000" cy="45653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Deterministic single-layer model | 494664 parameters</a:t>
            </a:r>
            <a:endParaRPr lang="zh-CN" altLang="en-US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observation">
            <a:extLst>
              <a:ext uri="{FF2B5EF4-FFF2-40B4-BE49-F238E27FC236}">
                <a16:creationId xmlns:a16="http://schemas.microsoft.com/office/drawing/2014/main" id="{AC28AA8E-D6B7-4BCD-683A-3F7BFB476557}"/>
              </a:ext>
            </a:extLst>
          </p:cNvPr>
          <p:cNvSpPr/>
          <p:nvPr/>
        </p:nvSpPr>
        <p:spPr>
          <a:xfrm>
            <a:off x="508000" y="1905000"/>
            <a:ext cx="1968500" cy="1270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en-US" altLang="zh-CN" sz="16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Two-object
observation
o</a:t>
            </a:r>
            <a:r>
              <a:rPr lang="en-US" altLang="zh-CN" sz="16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0,t</a:t>
            </a:r>
            <a:r>
              <a:rPr lang="en-US" altLang="zh-CN" sz="16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o</a:t>
            </a:r>
            <a:r>
              <a:rPr lang="en-US" altLang="zh-CN" sz="16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1,t</a:t>
            </a:r>
            <a:r>
              <a:rPr lang="en-US" altLang="zh-CN" sz="16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2 × 6</a:t>
            </a:r>
            <a:endParaRPr lang="zh-CN" altLang="en-US" sz="16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flatten">
            <a:extLst>
              <a:ext uri="{FF2B5EF4-FFF2-40B4-BE49-F238E27FC236}">
                <a16:creationId xmlns:a16="http://schemas.microsoft.com/office/drawing/2014/main" id="{A338ABE6-9DA5-68E8-7AE4-CC191D93A187}"/>
              </a:ext>
            </a:extLst>
          </p:cNvPr>
          <p:cNvSpPr/>
          <p:nvPr/>
        </p:nvSpPr>
        <p:spPr>
          <a:xfrm>
            <a:off x="2857500" y="1905000"/>
            <a:ext cx="1524000" cy="1270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Flatten
2 × 6 → 12</a:t>
            </a:r>
            <a:endParaRPr lang="zh-CN" altLang="en-US" sz="17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observation-encoder">
            <a:extLst>
              <a:ext uri="{FF2B5EF4-FFF2-40B4-BE49-F238E27FC236}">
                <a16:creationId xmlns:a16="http://schemas.microsoft.com/office/drawing/2014/main" id="{B2E5DC95-AE33-5D79-BE3E-AC5B60DFE3E6}"/>
              </a:ext>
            </a:extLst>
          </p:cNvPr>
          <p:cNvSpPr/>
          <p:nvPr/>
        </p:nvSpPr>
        <p:spPr>
          <a:xfrm>
            <a:off x="4762500" y="1498600"/>
            <a:ext cx="2667000" cy="609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rgbClr val="00000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Observation encoder</a:t>
            </a:r>
          </a:p>
          <a:p>
            <a:pPr algn="ctr"/>
            <a:r>
              <a:rPr lang="en-US" altLang="zh-CN" sz="17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MLP</a:t>
            </a:r>
            <a:endParaRPr lang="zh-CN" altLang="en-US" sz="17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raw-action">
            <a:extLst>
              <a:ext uri="{FF2B5EF4-FFF2-40B4-BE49-F238E27FC236}">
                <a16:creationId xmlns:a16="http://schemas.microsoft.com/office/drawing/2014/main" id="{77D82CB7-5926-0204-EE40-ABF198634914}"/>
              </a:ext>
            </a:extLst>
          </p:cNvPr>
          <p:cNvSpPr/>
          <p:nvPr/>
        </p:nvSpPr>
        <p:spPr>
          <a:xfrm>
            <a:off x="7810500" y="635000"/>
            <a:ext cx="1905000" cy="762000"/>
          </a:xfrm>
          <a:prstGeom prst="rect">
            <a:avLst/>
          </a:prstGeom>
          <a:solidFill>
            <a:srgbClr val="FFFFFF"/>
          </a:solidFill>
          <a:ln w="28575">
            <a:solidFill>
              <a:srgbClr val="34A5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en-US" altLang="zh-CN" sz="16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Raw action a</a:t>
            </a:r>
            <a:r>
              <a:rPr lang="en-US" altLang="zh-CN" sz="16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en-US" altLang="zh-CN" sz="16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
4-D; a</a:t>
            </a:r>
            <a:r>
              <a:rPr lang="en-US" altLang="zh-CN" sz="16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en-US" altLang="zh-CN" sz="16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0</a:t>
            </a:r>
            <a:endParaRPr lang="zh-CN" altLang="en-US" sz="16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concatenation">
            <a:extLst>
              <a:ext uri="{FF2B5EF4-FFF2-40B4-BE49-F238E27FC236}">
                <a16:creationId xmlns:a16="http://schemas.microsoft.com/office/drawing/2014/main" id="{2DA79950-B693-FE0B-D501-FC1A5D24D527}"/>
              </a:ext>
            </a:extLst>
          </p:cNvPr>
          <p:cNvSpPr/>
          <p:nvPr/>
        </p:nvSpPr>
        <p:spPr>
          <a:xfrm>
            <a:off x="7810500" y="1905000"/>
            <a:ext cx="1905000" cy="1270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Concatenate
224 + 4
228-D</a:t>
            </a:r>
            <a:endParaRPr lang="zh-CN" altLang="en-US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previous-hidden">
            <a:extLst>
              <a:ext uri="{FF2B5EF4-FFF2-40B4-BE49-F238E27FC236}">
                <a16:creationId xmlns:a16="http://schemas.microsoft.com/office/drawing/2014/main" id="{A47A6FE0-1081-82AD-686F-262F98460009}"/>
              </a:ext>
            </a:extLst>
          </p:cNvPr>
          <p:cNvSpPr/>
          <p:nvPr/>
        </p:nvSpPr>
        <p:spPr>
          <a:xfrm>
            <a:off x="10477500" y="571500"/>
            <a:ext cx="2032000" cy="762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Previous hidden
h</a:t>
            </a:r>
            <a:r>
              <a:rPr lang="en-US" altLang="zh-CN" sz="15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prev</a:t>
            </a:r>
            <a:r>
              <a:rPr lang="en-US" altLang="zh-CN" sz="1500" b="1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15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192-D</a:t>
            </a:r>
            <a:endParaRPr lang="zh-CN" altLang="en-US" sz="15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previous-cell">
            <a:extLst>
              <a:ext uri="{FF2B5EF4-FFF2-40B4-BE49-F238E27FC236}">
                <a16:creationId xmlns:a16="http://schemas.microsoft.com/office/drawing/2014/main" id="{5DB89815-AF8A-A270-7CB2-1C2C5491B9A2}"/>
              </a:ext>
            </a:extLst>
          </p:cNvPr>
          <p:cNvSpPr/>
          <p:nvPr/>
        </p:nvSpPr>
        <p:spPr>
          <a:xfrm>
            <a:off x="12763500" y="571500"/>
            <a:ext cx="1841500" cy="762000"/>
          </a:xfrm>
          <a:prstGeom prst="rect">
            <a:avLst/>
          </a:prstGeom>
          <a:solidFill>
            <a:srgbClr val="FFFFFF"/>
          </a:solidFill>
          <a:ln w="28575">
            <a:solidFill>
              <a:srgbClr val="A02B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en-US" altLang="zh-CN" sz="15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Previous cell
c</a:t>
            </a:r>
            <a:r>
              <a:rPr lang="en-US" altLang="zh-CN" sz="15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prev</a:t>
            </a:r>
            <a:r>
              <a:rPr lang="en-US" altLang="zh-CN" sz="1500" b="1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15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192-D</a:t>
            </a:r>
            <a:endParaRPr lang="zh-CN" altLang="en-US" sz="15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LSTM-cell">
            <a:extLst>
              <a:ext uri="{FF2B5EF4-FFF2-40B4-BE49-F238E27FC236}">
                <a16:creationId xmlns:a16="http://schemas.microsoft.com/office/drawing/2014/main" id="{33C9886E-69CB-A825-443A-50218F713024}"/>
              </a:ext>
            </a:extLst>
          </p:cNvPr>
          <p:cNvSpPr/>
          <p:nvPr/>
        </p:nvSpPr>
        <p:spPr>
          <a:xfrm>
            <a:off x="10477500" y="2095500"/>
            <a:ext cx="4064000" cy="133350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/>
            <a:r>
              <a:rPr lang="en-US" altLang="zh-CN" sz="19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Input: 228-D</a:t>
            </a:r>
          </a:p>
          <a:p>
            <a:pPr algn="ctr"/>
            <a:r>
              <a:rPr lang="en-US" altLang="zh-CN" sz="19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Hidden size: 192</a:t>
            </a:r>
          </a:p>
          <a:p>
            <a:pPr algn="ctr"/>
            <a:r>
              <a:rPr lang="en-US" altLang="zh-CN" sz="19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Outputs: hidden + cell</a:t>
            </a:r>
            <a:endParaRPr lang="zh-CN" altLang="en-US" sz="19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hidden-state">
            <a:extLst>
              <a:ext uri="{FF2B5EF4-FFF2-40B4-BE49-F238E27FC236}">
                <a16:creationId xmlns:a16="http://schemas.microsoft.com/office/drawing/2014/main" id="{C4E84502-456F-293D-6467-A93BABD7A2B8}"/>
              </a:ext>
            </a:extLst>
          </p:cNvPr>
          <p:cNvSpPr/>
          <p:nvPr/>
        </p:nvSpPr>
        <p:spPr>
          <a:xfrm>
            <a:off x="9906000" y="4445000"/>
            <a:ext cx="2159000" cy="889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en-US" altLang="zh-CN" sz="2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Hidden state
h</a:t>
            </a:r>
            <a:r>
              <a:rPr lang="en-US" altLang="zh-CN" sz="20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en-US" altLang="zh-CN" sz="2000" b="1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∈ R</a:t>
            </a:r>
            <a:r>
              <a:rPr lang="en-US" altLang="zh-CN" sz="2000" b="1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192</a:t>
            </a:r>
            <a:endParaRPr lang="zh-CN" altLang="en-US" sz="2000" b="1" baseline="30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cell-state">
            <a:extLst>
              <a:ext uri="{FF2B5EF4-FFF2-40B4-BE49-F238E27FC236}">
                <a16:creationId xmlns:a16="http://schemas.microsoft.com/office/drawing/2014/main" id="{495FA24F-2E5A-8585-2A30-AEF13C576713}"/>
              </a:ext>
            </a:extLst>
          </p:cNvPr>
          <p:cNvSpPr/>
          <p:nvPr/>
        </p:nvSpPr>
        <p:spPr>
          <a:xfrm>
            <a:off x="12382500" y="4445000"/>
            <a:ext cx="2159000" cy="889000"/>
          </a:xfrm>
          <a:prstGeom prst="rect">
            <a:avLst/>
          </a:prstGeom>
          <a:solidFill>
            <a:srgbClr val="FFFFFF"/>
          </a:solidFill>
          <a:ln w="28575">
            <a:solidFill>
              <a:srgbClr val="A02B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en-US" altLang="zh-CN" sz="2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Cell state
c</a:t>
            </a:r>
            <a:r>
              <a:rPr lang="en-US" altLang="zh-CN" sz="20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en-US" altLang="zh-CN" sz="2000" b="1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∈ R</a:t>
            </a:r>
            <a:r>
              <a:rPr lang="en-US" altLang="zh-CN" sz="2000" b="1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192</a:t>
            </a:r>
            <a:endParaRPr lang="zh-CN" altLang="en-US" sz="2000" b="1" baseline="30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decoder">
            <a:extLst>
              <a:ext uri="{FF2B5EF4-FFF2-40B4-BE49-F238E27FC236}">
                <a16:creationId xmlns:a16="http://schemas.microsoft.com/office/drawing/2014/main" id="{39EFFEDA-DEC6-63E9-097B-98ABACA86082}"/>
              </a:ext>
            </a:extLst>
          </p:cNvPr>
          <p:cNvSpPr/>
          <p:nvPr/>
        </p:nvSpPr>
        <p:spPr>
          <a:xfrm>
            <a:off x="7112000" y="6223000"/>
            <a:ext cx="3429000" cy="355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rgbClr val="00000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Decoder (hidden state only)</a:t>
            </a:r>
            <a:endParaRPr lang="zh-CN" altLang="en-US" sz="17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primitive-output">
            <a:extLst>
              <a:ext uri="{FF2B5EF4-FFF2-40B4-BE49-F238E27FC236}">
                <a16:creationId xmlns:a16="http://schemas.microsoft.com/office/drawing/2014/main" id="{20278F60-3E69-8FEE-2F45-3D1B4A2284BC}"/>
              </a:ext>
            </a:extLst>
          </p:cNvPr>
          <p:cNvSpPr/>
          <p:nvPr/>
        </p:nvSpPr>
        <p:spPr>
          <a:xfrm>
            <a:off x="7112000" y="8636000"/>
            <a:ext cx="3429000" cy="825500"/>
          </a:xfrm>
          <a:prstGeom prst="rect">
            <a:avLst/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Primitive predictions
8-D output</a:t>
            </a:r>
            <a:endParaRPr lang="zh-CN" altLang="en-US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complete-carrier">
            <a:extLst>
              <a:ext uri="{FF2B5EF4-FFF2-40B4-BE49-F238E27FC236}">
                <a16:creationId xmlns:a16="http://schemas.microsoft.com/office/drawing/2014/main" id="{7797F513-5CF0-D564-1C10-DA98C396DFDF}"/>
              </a:ext>
            </a:extLst>
          </p:cNvPr>
          <p:cNvSpPr/>
          <p:nvPr/>
        </p:nvSpPr>
        <p:spPr>
          <a:xfrm>
            <a:off x="11303000" y="6350000"/>
            <a:ext cx="3238500" cy="1270000"/>
          </a:xfrm>
          <a:prstGeom prst="rect">
            <a:avLst/>
          </a:prstGeom>
          <a:solidFill>
            <a:srgbClr val="FFFFFF"/>
          </a:solidFill>
          <a:ln w="26670">
            <a:solidFill>
              <a:srgbClr val="FF6B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it-IT" altLang="zh-CN" sz="2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Complete carrier
z</a:t>
            </a:r>
            <a:r>
              <a:rPr lang="it-IT" altLang="zh-CN" sz="20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it-IT" altLang="zh-CN" sz="2000" b="1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it-IT" altLang="zh-CN" sz="2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[h</a:t>
            </a:r>
            <a:r>
              <a:rPr lang="it-IT" altLang="zh-CN" sz="20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it-IT" altLang="zh-CN" sz="2000" b="1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it-IT" altLang="zh-CN" sz="2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 c</a:t>
            </a:r>
            <a:r>
              <a:rPr lang="it-IT" altLang="zh-CN" sz="20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it-IT" altLang="zh-CN" sz="2000" b="1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it-IT" altLang="zh-CN" sz="2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]
384-D</a:t>
            </a:r>
            <a:endParaRPr lang="zh-CN" altLang="en-US" sz="20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carrier-applications">
            <a:extLst>
              <a:ext uri="{FF2B5EF4-FFF2-40B4-BE49-F238E27FC236}">
                <a16:creationId xmlns:a16="http://schemas.microsoft.com/office/drawing/2014/main" id="{5A336D46-4882-9D77-AD17-116617CB2D4C}"/>
              </a:ext>
            </a:extLst>
          </p:cNvPr>
          <p:cNvSpPr/>
          <p:nvPr/>
        </p:nvSpPr>
        <p:spPr>
          <a:xfrm>
            <a:off x="11302999" y="8255000"/>
            <a:ext cx="3428993" cy="12065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en-US" altLang="zh-CN" sz="17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 recurrent step (h and c)
Autonomous restart
Differentiation </a:t>
            </a:r>
            <a:r>
              <a:rPr lang="en-US" altLang="zh-CN" sz="1700" b="1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w.r.t.</a:t>
            </a:r>
            <a:r>
              <a:rPr lang="en-US" altLang="zh-CN" sz="17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700" b="1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</a:t>
            </a:r>
            <a:r>
              <a:rPr lang="en-US" altLang="zh-CN" sz="1700" b="1" baseline="30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endParaRPr lang="zh-CN" altLang="en-US" sz="1700" b="1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autonomous-input-note">
            <a:extLst>
              <a:ext uri="{FF2B5EF4-FFF2-40B4-BE49-F238E27FC236}">
                <a16:creationId xmlns:a16="http://schemas.microsoft.com/office/drawing/2014/main" id="{00E64937-44AD-CE2D-91F7-4B390C8601F1}"/>
              </a:ext>
            </a:extLst>
          </p:cNvPr>
          <p:cNvSpPr/>
          <p:nvPr/>
        </p:nvSpPr>
        <p:spPr>
          <a:xfrm>
            <a:off x="508000" y="4254500"/>
            <a:ext cx="5461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Autonomous rollout input
Object 0: [0, 0, 0, 0, 0, 0]
Object 1: [0, 0, 0, 0, 0, 1]
Physical + visibility channels = 0
Fixed identity tokens = (0, 1)
Raw action </a:t>
            </a:r>
            <a:r>
              <a:rPr lang="en-US" altLang="zh-CN" b="1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en-US" altLang="zh-CN" b="1" baseline="-25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t+k</a:t>
            </a:r>
            <a:r>
              <a:rPr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0
Same encoder; no decoder feedback</a:t>
            </a:r>
            <a:endParaRPr lang="zh-CN" altLang="en-US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initialization-note">
            <a:extLst>
              <a:ext uri="{FF2B5EF4-FFF2-40B4-BE49-F238E27FC236}">
                <a16:creationId xmlns:a16="http://schemas.microsoft.com/office/drawing/2014/main" id="{AD75283F-55BB-C947-9601-A17029115EA9}"/>
              </a:ext>
            </a:extLst>
          </p:cNvPr>
          <p:cNvSpPr/>
          <p:nvPr/>
        </p:nvSpPr>
        <p:spPr>
          <a:xfrm>
            <a:off x="508000" y="8636000"/>
            <a:ext cx="5461000" cy="8255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Initialization: h</a:t>
            </a:r>
            <a:r>
              <a:rPr lang="en-US" altLang="zh-CN" b="1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0 and c</a:t>
            </a:r>
            <a:r>
              <a:rPr lang="en-US" altLang="zh-CN" b="1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0
Both recurrent states are propagated.</a:t>
            </a:r>
            <a:endParaRPr lang="zh-CN" altLang="en-US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encoder-layer-0">
            <a:extLst>
              <a:ext uri="{FF2B5EF4-FFF2-40B4-BE49-F238E27FC236}">
                <a16:creationId xmlns:a16="http://schemas.microsoft.com/office/drawing/2014/main" id="{B195AAE5-BB16-E349-A9BB-D7FEF6C9F66F}"/>
              </a:ext>
            </a:extLst>
          </p:cNvPr>
          <p:cNvSpPr/>
          <p:nvPr/>
        </p:nvSpPr>
        <p:spPr>
          <a:xfrm>
            <a:off x="4762500" y="2158999"/>
            <a:ext cx="2667000" cy="317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3500" tIns="25400" rIns="63500" bIns="2540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Linear 12 → 224</a:t>
            </a:r>
            <a:endParaRPr lang="zh-CN" altLang="en-US" sz="17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encoder-layer-1">
            <a:extLst>
              <a:ext uri="{FF2B5EF4-FFF2-40B4-BE49-F238E27FC236}">
                <a16:creationId xmlns:a16="http://schemas.microsoft.com/office/drawing/2014/main" id="{5AA82AD9-CE16-4995-CACF-847278BCFB73}"/>
              </a:ext>
            </a:extLst>
          </p:cNvPr>
          <p:cNvSpPr/>
          <p:nvPr/>
        </p:nvSpPr>
        <p:spPr>
          <a:xfrm>
            <a:off x="4762500" y="2476499"/>
            <a:ext cx="2667000" cy="317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3500" tIns="25400" rIns="63500" bIns="2540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GELU</a:t>
            </a:r>
            <a:endParaRPr lang="zh-CN" altLang="en-US" sz="17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encoder-layer-2">
            <a:extLst>
              <a:ext uri="{FF2B5EF4-FFF2-40B4-BE49-F238E27FC236}">
                <a16:creationId xmlns:a16="http://schemas.microsoft.com/office/drawing/2014/main" id="{5BE7D97D-1F53-1782-4C76-1FF7E8D6B6E5}"/>
              </a:ext>
            </a:extLst>
          </p:cNvPr>
          <p:cNvSpPr/>
          <p:nvPr/>
        </p:nvSpPr>
        <p:spPr>
          <a:xfrm>
            <a:off x="4762500" y="2793999"/>
            <a:ext cx="2667000" cy="317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3500" tIns="25400" rIns="63500" bIns="2540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Linear 224 → 224</a:t>
            </a:r>
            <a:endParaRPr lang="zh-CN" altLang="en-US" sz="17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encoder-layer-3">
            <a:extLst>
              <a:ext uri="{FF2B5EF4-FFF2-40B4-BE49-F238E27FC236}">
                <a16:creationId xmlns:a16="http://schemas.microsoft.com/office/drawing/2014/main" id="{45B5909E-C234-9A17-47FC-3ABE1AFCF601}"/>
              </a:ext>
            </a:extLst>
          </p:cNvPr>
          <p:cNvSpPr/>
          <p:nvPr/>
        </p:nvSpPr>
        <p:spPr>
          <a:xfrm>
            <a:off x="4762500" y="3111499"/>
            <a:ext cx="2667000" cy="317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3500" tIns="25400" rIns="63500" bIns="2540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GELU</a:t>
            </a:r>
            <a:endParaRPr lang="zh-CN" altLang="en-US" sz="17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decoder-layer-0">
            <a:extLst>
              <a:ext uri="{FF2B5EF4-FFF2-40B4-BE49-F238E27FC236}">
                <a16:creationId xmlns:a16="http://schemas.microsoft.com/office/drawing/2014/main" id="{94CCA41F-F72C-54E7-6EC1-D5F30A852EC1}"/>
              </a:ext>
            </a:extLst>
          </p:cNvPr>
          <p:cNvSpPr/>
          <p:nvPr/>
        </p:nvSpPr>
        <p:spPr>
          <a:xfrm>
            <a:off x="7112000" y="6603999"/>
            <a:ext cx="3429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3500" tIns="25400" rIns="63500" bIns="2540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Linear 192 → 256</a:t>
            </a:r>
            <a:endParaRPr lang="zh-CN" altLang="en-US" sz="17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decoder-layer-1">
            <a:extLst>
              <a:ext uri="{FF2B5EF4-FFF2-40B4-BE49-F238E27FC236}">
                <a16:creationId xmlns:a16="http://schemas.microsoft.com/office/drawing/2014/main" id="{14FB2B61-1781-E22B-1C5A-660ECFE7B9B5}"/>
              </a:ext>
            </a:extLst>
          </p:cNvPr>
          <p:cNvSpPr/>
          <p:nvPr/>
        </p:nvSpPr>
        <p:spPr>
          <a:xfrm>
            <a:off x="7112000" y="6908799"/>
            <a:ext cx="3429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3500" tIns="25400" rIns="63500" bIns="2540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GELU</a:t>
            </a:r>
            <a:endParaRPr lang="zh-CN" altLang="en-US" sz="17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decoder-layer-2">
            <a:extLst>
              <a:ext uri="{FF2B5EF4-FFF2-40B4-BE49-F238E27FC236}">
                <a16:creationId xmlns:a16="http://schemas.microsoft.com/office/drawing/2014/main" id="{0384C6CA-2DC3-58AB-53CF-FCDFA70E4914}"/>
              </a:ext>
            </a:extLst>
          </p:cNvPr>
          <p:cNvSpPr/>
          <p:nvPr/>
        </p:nvSpPr>
        <p:spPr>
          <a:xfrm>
            <a:off x="7112000" y="7213599"/>
            <a:ext cx="3429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3500" tIns="25400" rIns="63500" bIns="2540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Linear 256 → 256</a:t>
            </a:r>
            <a:endParaRPr lang="zh-CN" altLang="en-US" sz="17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decoder-layer-3">
            <a:extLst>
              <a:ext uri="{FF2B5EF4-FFF2-40B4-BE49-F238E27FC236}">
                <a16:creationId xmlns:a16="http://schemas.microsoft.com/office/drawing/2014/main" id="{223284F1-D572-3D71-0DB9-900CAF55A865}"/>
              </a:ext>
            </a:extLst>
          </p:cNvPr>
          <p:cNvSpPr/>
          <p:nvPr/>
        </p:nvSpPr>
        <p:spPr>
          <a:xfrm>
            <a:off x="7112000" y="7518399"/>
            <a:ext cx="3429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3500" tIns="25400" rIns="63500" bIns="2540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GELU</a:t>
            </a:r>
            <a:endParaRPr lang="zh-CN" altLang="en-US" sz="17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decoder-layer-4">
            <a:extLst>
              <a:ext uri="{FF2B5EF4-FFF2-40B4-BE49-F238E27FC236}">
                <a16:creationId xmlns:a16="http://schemas.microsoft.com/office/drawing/2014/main" id="{930822D7-2305-0233-F358-D480BEC08B14}"/>
              </a:ext>
            </a:extLst>
          </p:cNvPr>
          <p:cNvSpPr/>
          <p:nvPr/>
        </p:nvSpPr>
        <p:spPr>
          <a:xfrm>
            <a:off x="7112000" y="7823199"/>
            <a:ext cx="3429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3500" tIns="25400" rIns="63500" bIns="2540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Linear 256 → 8</a:t>
            </a:r>
            <a:endParaRPr lang="zh-CN" altLang="en-US" sz="17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LSTM-header">
            <a:extLst>
              <a:ext uri="{FF2B5EF4-FFF2-40B4-BE49-F238E27FC236}">
                <a16:creationId xmlns:a16="http://schemas.microsoft.com/office/drawing/2014/main" id="{6CD0A755-AC77-C3F7-27B3-EC8565A9C4AD}"/>
              </a:ext>
            </a:extLst>
          </p:cNvPr>
          <p:cNvSpPr/>
          <p:nvPr/>
        </p:nvSpPr>
        <p:spPr>
          <a:xfrm>
            <a:off x="10477500" y="1650999"/>
            <a:ext cx="4064000" cy="444500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3500" tIns="25400" rIns="63500" bIns="25400" rtlCol="0" anchor="ctr">
            <a:noAutofit/>
          </a:bodyPr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LSTM CELL</a:t>
            </a:r>
            <a:endParaRPr lang="zh-CN" altLang="en-US" sz="20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1692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input-to-input-weights">
            <a:extLst>
              <a:ext uri="{FF2B5EF4-FFF2-40B4-BE49-F238E27FC236}">
                <a16:creationId xmlns:a16="http://schemas.microsoft.com/office/drawing/2014/main" id="{4E200AF4-FC28-FA97-7FAC-3311B2F98EA2}"/>
              </a:ext>
            </a:extLst>
          </p:cNvPr>
          <p:cNvCxnSpPr/>
          <p:nvPr/>
        </p:nvCxnSpPr>
        <p:spPr>
          <a:xfrm>
            <a:off x="3556000" y="2349500"/>
            <a:ext cx="762000" cy="0"/>
          </a:xfrm>
          <a:prstGeom prst="straightConnector1">
            <a:avLst/>
          </a:prstGeom>
          <a:ln w="28575">
            <a:solidFill>
              <a:srgbClr val="15608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hidden-to-hidden-weights">
            <a:extLst>
              <a:ext uri="{FF2B5EF4-FFF2-40B4-BE49-F238E27FC236}">
                <a16:creationId xmlns:a16="http://schemas.microsoft.com/office/drawing/2014/main" id="{CD9E4329-B46E-E687-C4B7-0492DBECD39B}"/>
              </a:ext>
            </a:extLst>
          </p:cNvPr>
          <p:cNvCxnSpPr/>
          <p:nvPr/>
        </p:nvCxnSpPr>
        <p:spPr>
          <a:xfrm>
            <a:off x="3556000" y="4508500"/>
            <a:ext cx="762000" cy="0"/>
          </a:xfrm>
          <a:prstGeom prst="straightConnector1">
            <a:avLst/>
          </a:prstGeom>
          <a:ln w="28575">
            <a:solidFill>
              <a:srgbClr val="15608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input-affine-to-add-a">
            <a:extLst>
              <a:ext uri="{FF2B5EF4-FFF2-40B4-BE49-F238E27FC236}">
                <a16:creationId xmlns:a16="http://schemas.microsoft.com/office/drawing/2014/main" id="{A2B45CFE-1F0E-2F88-985D-CD562D5F251A}"/>
              </a:ext>
            </a:extLst>
          </p:cNvPr>
          <p:cNvCxnSpPr/>
          <p:nvPr/>
        </p:nvCxnSpPr>
        <p:spPr>
          <a:xfrm>
            <a:off x="7747000" y="2349500"/>
            <a:ext cx="571500" cy="0"/>
          </a:xfrm>
          <a:prstGeom prst="straightConnector1">
            <a:avLst/>
          </a:prstGeom>
          <a:ln w="28575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input-affine-to-add-b">
            <a:extLst>
              <a:ext uri="{FF2B5EF4-FFF2-40B4-BE49-F238E27FC236}">
                <a16:creationId xmlns:a16="http://schemas.microsoft.com/office/drawing/2014/main" id="{78538923-FAAF-6A95-1258-3D1949EDCF24}"/>
              </a:ext>
            </a:extLst>
          </p:cNvPr>
          <p:cNvCxnSpPr/>
          <p:nvPr/>
        </p:nvCxnSpPr>
        <p:spPr>
          <a:xfrm>
            <a:off x="8318500" y="2349500"/>
            <a:ext cx="0" cy="635000"/>
          </a:xfrm>
          <a:prstGeom prst="straightConnector1">
            <a:avLst/>
          </a:prstGeom>
          <a:ln w="28575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input-affine-to-add-c">
            <a:extLst>
              <a:ext uri="{FF2B5EF4-FFF2-40B4-BE49-F238E27FC236}">
                <a16:creationId xmlns:a16="http://schemas.microsoft.com/office/drawing/2014/main" id="{5A19DF5A-6EF2-B04B-8813-26A9D61B413C}"/>
              </a:ext>
            </a:extLst>
          </p:cNvPr>
          <p:cNvCxnSpPr/>
          <p:nvPr/>
        </p:nvCxnSpPr>
        <p:spPr>
          <a:xfrm>
            <a:off x="8318500" y="2984500"/>
            <a:ext cx="571500" cy="0"/>
          </a:xfrm>
          <a:prstGeom prst="straightConnector1">
            <a:avLst/>
          </a:prstGeom>
          <a:ln w="28575">
            <a:solidFill>
              <a:srgbClr val="15608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hidden-affine-to-add-a">
            <a:extLst>
              <a:ext uri="{FF2B5EF4-FFF2-40B4-BE49-F238E27FC236}">
                <a16:creationId xmlns:a16="http://schemas.microsoft.com/office/drawing/2014/main" id="{4A4BDB18-3EBB-3080-4892-F54AF1B5CA5B}"/>
              </a:ext>
            </a:extLst>
          </p:cNvPr>
          <p:cNvCxnSpPr/>
          <p:nvPr/>
        </p:nvCxnSpPr>
        <p:spPr>
          <a:xfrm>
            <a:off x="7747000" y="4508500"/>
            <a:ext cx="571500" cy="0"/>
          </a:xfrm>
          <a:prstGeom prst="straightConnector1">
            <a:avLst/>
          </a:prstGeom>
          <a:ln w="28575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hidden-affine-to-add-b">
            <a:extLst>
              <a:ext uri="{FF2B5EF4-FFF2-40B4-BE49-F238E27FC236}">
                <a16:creationId xmlns:a16="http://schemas.microsoft.com/office/drawing/2014/main" id="{FF6DE524-A84C-E409-A655-670CD5C4E8F4}"/>
              </a:ext>
            </a:extLst>
          </p:cNvPr>
          <p:cNvCxnSpPr/>
          <p:nvPr/>
        </p:nvCxnSpPr>
        <p:spPr>
          <a:xfrm flipV="1">
            <a:off x="8318500" y="3492500"/>
            <a:ext cx="0" cy="1016000"/>
          </a:xfrm>
          <a:prstGeom prst="straightConnector1">
            <a:avLst/>
          </a:prstGeom>
          <a:ln w="28575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hidden-affine-to-add-c">
            <a:extLst>
              <a:ext uri="{FF2B5EF4-FFF2-40B4-BE49-F238E27FC236}">
                <a16:creationId xmlns:a16="http://schemas.microsoft.com/office/drawing/2014/main" id="{9472E775-6C4F-FA05-75FD-79BBF34CBFFD}"/>
              </a:ext>
            </a:extLst>
          </p:cNvPr>
          <p:cNvCxnSpPr/>
          <p:nvPr/>
        </p:nvCxnSpPr>
        <p:spPr>
          <a:xfrm>
            <a:off x="8318500" y="3492500"/>
            <a:ext cx="571500" cy="0"/>
          </a:xfrm>
          <a:prstGeom prst="straightConnector1">
            <a:avLst/>
          </a:prstGeom>
          <a:ln w="28575">
            <a:solidFill>
              <a:srgbClr val="15608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dd-to-split">
            <a:extLst>
              <a:ext uri="{FF2B5EF4-FFF2-40B4-BE49-F238E27FC236}">
                <a16:creationId xmlns:a16="http://schemas.microsoft.com/office/drawing/2014/main" id="{3FD4808A-A3E2-B6FC-1457-360CE7645EC4}"/>
              </a:ext>
            </a:extLst>
          </p:cNvPr>
          <p:cNvCxnSpPr/>
          <p:nvPr/>
        </p:nvCxnSpPr>
        <p:spPr>
          <a:xfrm>
            <a:off x="11811000" y="3238500"/>
            <a:ext cx="635000" cy="0"/>
          </a:xfrm>
          <a:prstGeom prst="straightConnector1">
            <a:avLst/>
          </a:prstGeom>
          <a:ln w="28575">
            <a:solidFill>
              <a:srgbClr val="15608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plit-to-memory-a">
            <a:extLst>
              <a:ext uri="{FF2B5EF4-FFF2-40B4-BE49-F238E27FC236}">
                <a16:creationId xmlns:a16="http://schemas.microsoft.com/office/drawing/2014/main" id="{5DC990D1-A345-DC1D-1F33-FC330252FE22}"/>
              </a:ext>
            </a:extLst>
          </p:cNvPr>
          <p:cNvCxnSpPr/>
          <p:nvPr/>
        </p:nvCxnSpPr>
        <p:spPr>
          <a:xfrm>
            <a:off x="13589000" y="4381500"/>
            <a:ext cx="0" cy="1333500"/>
          </a:xfrm>
          <a:prstGeom prst="straightConnector1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plit-to-memory-b">
            <a:extLst>
              <a:ext uri="{FF2B5EF4-FFF2-40B4-BE49-F238E27FC236}">
                <a16:creationId xmlns:a16="http://schemas.microsoft.com/office/drawing/2014/main" id="{5F568FD4-071C-E059-5ECC-0B4019AC99C1}"/>
              </a:ext>
            </a:extLst>
          </p:cNvPr>
          <p:cNvCxnSpPr/>
          <p:nvPr/>
        </p:nvCxnSpPr>
        <p:spPr>
          <a:xfrm flipH="1">
            <a:off x="8890000" y="5715000"/>
            <a:ext cx="4699000" cy="0"/>
          </a:xfrm>
          <a:prstGeom prst="straightConnector1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plit-to-memory-c">
            <a:extLst>
              <a:ext uri="{FF2B5EF4-FFF2-40B4-BE49-F238E27FC236}">
                <a16:creationId xmlns:a16="http://schemas.microsoft.com/office/drawing/2014/main" id="{10911215-A8FF-EC98-63AF-4F646236DA50}"/>
              </a:ext>
            </a:extLst>
          </p:cNvPr>
          <p:cNvCxnSpPr/>
          <p:nvPr/>
        </p:nvCxnSpPr>
        <p:spPr>
          <a:xfrm>
            <a:off x="8890000" y="5715000"/>
            <a:ext cx="0" cy="762000"/>
          </a:xfrm>
          <a:prstGeom prst="straightConnector1">
            <a:avLst/>
          </a:prstGeom>
          <a:ln w="2857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ell-prev-to-update">
            <a:extLst>
              <a:ext uri="{FF2B5EF4-FFF2-40B4-BE49-F238E27FC236}">
                <a16:creationId xmlns:a16="http://schemas.microsoft.com/office/drawing/2014/main" id="{9BC637D1-2B58-0B79-735C-57B1E0EA73B9}"/>
              </a:ext>
            </a:extLst>
          </p:cNvPr>
          <p:cNvCxnSpPr/>
          <p:nvPr/>
        </p:nvCxnSpPr>
        <p:spPr>
          <a:xfrm>
            <a:off x="3556000" y="7112000"/>
            <a:ext cx="762000" cy="0"/>
          </a:xfrm>
          <a:prstGeom prst="straightConnector1">
            <a:avLst/>
          </a:prstGeom>
          <a:ln w="28575">
            <a:solidFill>
              <a:srgbClr val="A02B9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new-cell-to-new-hidden">
            <a:extLst>
              <a:ext uri="{FF2B5EF4-FFF2-40B4-BE49-F238E27FC236}">
                <a16:creationId xmlns:a16="http://schemas.microsoft.com/office/drawing/2014/main" id="{49A4A829-35B8-E486-39CB-0631209F489F}"/>
              </a:ext>
            </a:extLst>
          </p:cNvPr>
          <p:cNvCxnSpPr/>
          <p:nvPr/>
        </p:nvCxnSpPr>
        <p:spPr>
          <a:xfrm>
            <a:off x="7937500" y="7874000"/>
            <a:ext cx="0" cy="762000"/>
          </a:xfrm>
          <a:prstGeom prst="straightConnector1">
            <a:avLst/>
          </a:prstGeom>
          <a:ln w="28575">
            <a:solidFill>
              <a:srgbClr val="A02B9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output-gate-to-hidden-a">
            <a:extLst>
              <a:ext uri="{FF2B5EF4-FFF2-40B4-BE49-F238E27FC236}">
                <a16:creationId xmlns:a16="http://schemas.microsoft.com/office/drawing/2014/main" id="{D8F60386-B714-9059-CB39-6BD4E18FCA83}"/>
              </a:ext>
            </a:extLst>
          </p:cNvPr>
          <p:cNvCxnSpPr/>
          <p:nvPr/>
        </p:nvCxnSpPr>
        <p:spPr>
          <a:xfrm>
            <a:off x="14478000" y="4381500"/>
            <a:ext cx="0" cy="4660900"/>
          </a:xfrm>
          <a:prstGeom prst="straightConnector1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output-gate-to-hidden-b">
            <a:extLst>
              <a:ext uri="{FF2B5EF4-FFF2-40B4-BE49-F238E27FC236}">
                <a16:creationId xmlns:a16="http://schemas.microsoft.com/office/drawing/2014/main" id="{45A60577-B509-6712-071D-B5A70A7DFE08}"/>
              </a:ext>
            </a:extLst>
          </p:cNvPr>
          <p:cNvCxnSpPr/>
          <p:nvPr/>
        </p:nvCxnSpPr>
        <p:spPr>
          <a:xfrm flipH="1">
            <a:off x="11557000" y="9042400"/>
            <a:ext cx="2921000" cy="0"/>
          </a:xfrm>
          <a:prstGeom prst="straightConnector1">
            <a:avLst/>
          </a:prstGeom>
          <a:ln w="2857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gate-title">
            <a:extLst>
              <a:ext uri="{FF2B5EF4-FFF2-40B4-BE49-F238E27FC236}">
                <a16:creationId xmlns:a16="http://schemas.microsoft.com/office/drawing/2014/main" id="{1DF212B8-EAE4-5D6F-4709-B0FEF3F8E907}"/>
              </a:ext>
            </a:extLst>
          </p:cNvPr>
          <p:cNvSpPr txBox="1"/>
          <p:nvPr/>
        </p:nvSpPr>
        <p:spPr>
          <a:xfrm>
            <a:off x="508000" y="355600"/>
            <a:ext cx="14224000" cy="45653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(b)    How the 228-D input updates the 192-D hidden and cell states</a:t>
            </a:r>
            <a:endParaRPr lang="zh-CN" altLang="en-US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gate-subtitle">
            <a:extLst>
              <a:ext uri="{FF2B5EF4-FFF2-40B4-BE49-F238E27FC236}">
                <a16:creationId xmlns:a16="http://schemas.microsoft.com/office/drawing/2014/main" id="{01565E20-83A5-3146-83E8-273FF4231C3F}"/>
              </a:ext>
            </a:extLst>
          </p:cNvPr>
          <p:cNvSpPr txBox="1"/>
          <p:nvPr/>
        </p:nvSpPr>
        <p:spPr>
          <a:xfrm>
            <a:off x="508000" y="901790"/>
            <a:ext cx="14224000" cy="45653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Input and hidden state use separate learned projections; the cell state follows the gated memory path.</a:t>
            </a:r>
            <a:endParaRPr lang="zh-CN" altLang="en-US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urrent-input">
            <a:extLst>
              <a:ext uri="{FF2B5EF4-FFF2-40B4-BE49-F238E27FC236}">
                <a16:creationId xmlns:a16="http://schemas.microsoft.com/office/drawing/2014/main" id="{CE4115F7-6660-EDB7-44C8-5184943792C5}"/>
              </a:ext>
            </a:extLst>
          </p:cNvPr>
          <p:cNvSpPr/>
          <p:nvPr/>
        </p:nvSpPr>
        <p:spPr>
          <a:xfrm>
            <a:off x="508000" y="1841500"/>
            <a:ext cx="3048000" cy="1016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Recurrent input u</a:t>
            </a:r>
            <a:r>
              <a:rPr lang="en-US" altLang="zh-CN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en-US" altLang="zh-CN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
224 + 4 = 228 features</a:t>
            </a:r>
            <a:endParaRPr lang="zh-CN" altLang="en-US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input-projection">
            <a:extLst>
              <a:ext uri="{FF2B5EF4-FFF2-40B4-BE49-F238E27FC236}">
                <a16:creationId xmlns:a16="http://schemas.microsoft.com/office/drawing/2014/main" id="{FDC8E8AA-3968-F418-9765-5874707E6E1B}"/>
              </a:ext>
            </a:extLst>
          </p:cNvPr>
          <p:cNvSpPr/>
          <p:nvPr/>
        </p:nvSpPr>
        <p:spPr>
          <a:xfrm>
            <a:off x="4318000" y="1841500"/>
            <a:ext cx="3429000" cy="1016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sv-SE" altLang="zh-CN" sz="21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</a:t>
            </a:r>
            <a:r>
              <a:rPr lang="sv-SE" altLang="zh-CN" sz="21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ih</a:t>
            </a:r>
            <a:r>
              <a:rPr lang="sv-SE" altLang="zh-CN" sz="21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u</a:t>
            </a:r>
            <a:r>
              <a:rPr lang="sv-SE" altLang="zh-CN" sz="21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sv-SE" altLang="zh-CN" sz="21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
W</a:t>
            </a:r>
            <a:r>
              <a:rPr lang="sv-SE" altLang="zh-CN" sz="21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ih</a:t>
            </a:r>
            <a:r>
              <a:rPr lang="sv-SE" altLang="zh-CN" sz="21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768 × 228</a:t>
            </a:r>
            <a:endParaRPr lang="zh-CN" altLang="en-US" sz="21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incoming-hidden">
            <a:extLst>
              <a:ext uri="{FF2B5EF4-FFF2-40B4-BE49-F238E27FC236}">
                <a16:creationId xmlns:a16="http://schemas.microsoft.com/office/drawing/2014/main" id="{6128C9ED-F42D-CBA3-3513-73B12FCA906A}"/>
              </a:ext>
            </a:extLst>
          </p:cNvPr>
          <p:cNvSpPr/>
          <p:nvPr/>
        </p:nvSpPr>
        <p:spPr>
          <a:xfrm>
            <a:off x="508000" y="4000500"/>
            <a:ext cx="3048000" cy="1016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en-US" altLang="zh-CN" sz="2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Previous hidden state
h</a:t>
            </a:r>
            <a:r>
              <a:rPr lang="en-US" altLang="zh-CN" sz="20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prev</a:t>
            </a:r>
            <a:r>
              <a:rPr lang="en-US" altLang="zh-CN" sz="2000" b="1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∈ R</a:t>
            </a:r>
            <a:r>
              <a:rPr lang="en-US" altLang="zh-CN" sz="2000" b="1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192</a:t>
            </a:r>
            <a:endParaRPr lang="zh-CN" altLang="en-US" sz="2000" b="1" baseline="30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hidden-projection">
            <a:extLst>
              <a:ext uri="{FF2B5EF4-FFF2-40B4-BE49-F238E27FC236}">
                <a16:creationId xmlns:a16="http://schemas.microsoft.com/office/drawing/2014/main" id="{963D6849-2678-40F1-4B97-A13893AFA7B2}"/>
              </a:ext>
            </a:extLst>
          </p:cNvPr>
          <p:cNvSpPr/>
          <p:nvPr/>
        </p:nvSpPr>
        <p:spPr>
          <a:xfrm>
            <a:off x="4318000" y="4000500"/>
            <a:ext cx="3429000" cy="1016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en-US" altLang="zh-CN" sz="21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</a:t>
            </a:r>
            <a:r>
              <a:rPr lang="en-US" altLang="zh-CN" sz="21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hh</a:t>
            </a:r>
            <a:r>
              <a:rPr lang="en-US" altLang="zh-CN" sz="21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h</a:t>
            </a:r>
            <a:r>
              <a:rPr lang="en-US" altLang="zh-CN" sz="21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prev</a:t>
            </a:r>
            <a:r>
              <a:rPr lang="en-US" altLang="zh-CN" sz="2100" b="1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1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
W</a:t>
            </a:r>
            <a:r>
              <a:rPr lang="en-US" altLang="zh-CN" sz="21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hh</a:t>
            </a:r>
            <a:r>
              <a:rPr lang="en-US" altLang="zh-CN" sz="21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768 × 192</a:t>
            </a:r>
            <a:endParaRPr lang="zh-CN" altLang="en-US" sz="21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gate-preactivation">
            <a:extLst>
              <a:ext uri="{FF2B5EF4-FFF2-40B4-BE49-F238E27FC236}">
                <a16:creationId xmlns:a16="http://schemas.microsoft.com/office/drawing/2014/main" id="{A900741F-DA12-7D9A-56FF-5321365D4894}"/>
              </a:ext>
            </a:extLst>
          </p:cNvPr>
          <p:cNvSpPr/>
          <p:nvPr/>
        </p:nvSpPr>
        <p:spPr>
          <a:xfrm>
            <a:off x="8890000" y="2667000"/>
            <a:ext cx="292100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en-US" altLang="zh-CN" sz="2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Add + b</a:t>
            </a:r>
            <a:r>
              <a:rPr lang="en-US" altLang="zh-CN" sz="20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ih</a:t>
            </a:r>
            <a:r>
              <a:rPr lang="en-US" altLang="zh-CN" sz="2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+ b</a:t>
            </a:r>
            <a:r>
              <a:rPr lang="en-US" altLang="zh-CN" sz="20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hh</a:t>
            </a:r>
            <a:r>
              <a:rPr lang="en-US" altLang="zh-CN" sz="2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
768-D preactivation</a:t>
            </a:r>
            <a:endParaRPr lang="zh-CN" altLang="en-US" sz="20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four-gates">
            <a:extLst>
              <a:ext uri="{FF2B5EF4-FFF2-40B4-BE49-F238E27FC236}">
                <a16:creationId xmlns:a16="http://schemas.microsoft.com/office/drawing/2014/main" id="{1ECEE617-995C-AF89-7742-1970FC81A09B}"/>
              </a:ext>
            </a:extLst>
          </p:cNvPr>
          <p:cNvSpPr/>
          <p:nvPr/>
        </p:nvSpPr>
        <p:spPr>
          <a:xfrm>
            <a:off x="12446000" y="2032000"/>
            <a:ext cx="2286000" cy="533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rgbClr val="00000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× 192-D blocks</a:t>
            </a:r>
            <a:endParaRPr lang="zh-CN" altLang="en-US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ifg-edge-label">
            <a:extLst>
              <a:ext uri="{FF2B5EF4-FFF2-40B4-BE49-F238E27FC236}">
                <a16:creationId xmlns:a16="http://schemas.microsoft.com/office/drawing/2014/main" id="{7EA42F45-4D92-C19C-838E-7087F5D2C415}"/>
              </a:ext>
            </a:extLst>
          </p:cNvPr>
          <p:cNvSpPr txBox="1"/>
          <p:nvPr/>
        </p:nvSpPr>
        <p:spPr>
          <a:xfrm>
            <a:off x="10943770" y="5246430"/>
            <a:ext cx="1270000" cy="45653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00" b="1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en-US" altLang="zh-CN" sz="17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f, g</a:t>
            </a:r>
            <a:endParaRPr lang="zh-CN" altLang="en-US" sz="17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o-edge-label">
            <a:extLst>
              <a:ext uri="{FF2B5EF4-FFF2-40B4-BE49-F238E27FC236}">
                <a16:creationId xmlns:a16="http://schemas.microsoft.com/office/drawing/2014/main" id="{8C1BBF1A-C9D6-9931-94C8-552C17158907}"/>
              </a:ext>
            </a:extLst>
          </p:cNvPr>
          <p:cNvSpPr txBox="1"/>
          <p:nvPr/>
        </p:nvSpPr>
        <p:spPr>
          <a:xfrm>
            <a:off x="12954000" y="8610600"/>
            <a:ext cx="508000" cy="45653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9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</a:t>
            </a:r>
            <a:endParaRPr lang="zh-CN" altLang="en-US" sz="19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incoming-cell">
            <a:extLst>
              <a:ext uri="{FF2B5EF4-FFF2-40B4-BE49-F238E27FC236}">
                <a16:creationId xmlns:a16="http://schemas.microsoft.com/office/drawing/2014/main" id="{2D63FFFF-2D50-0F5C-05FB-1944C269E077}"/>
              </a:ext>
            </a:extLst>
          </p:cNvPr>
          <p:cNvSpPr/>
          <p:nvPr/>
        </p:nvSpPr>
        <p:spPr>
          <a:xfrm>
            <a:off x="508000" y="6604000"/>
            <a:ext cx="3048000" cy="1016000"/>
          </a:xfrm>
          <a:prstGeom prst="rect">
            <a:avLst/>
          </a:prstGeom>
          <a:solidFill>
            <a:srgbClr val="FFFFFF"/>
          </a:solidFill>
          <a:ln w="28575">
            <a:solidFill>
              <a:srgbClr val="A02B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en-US" altLang="zh-CN" sz="2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Previous cell state
c</a:t>
            </a:r>
            <a:r>
              <a:rPr lang="en-US" altLang="zh-CN" sz="20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prev</a:t>
            </a:r>
            <a:r>
              <a:rPr lang="en-US" altLang="zh-CN" sz="2000" b="1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0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∈ R</a:t>
            </a:r>
            <a:r>
              <a:rPr lang="en-US" altLang="zh-CN" sz="2000" b="1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192</a:t>
            </a:r>
            <a:endParaRPr lang="zh-CN" altLang="en-US" sz="2000" b="1" baseline="30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cell-update">
            <a:extLst>
              <a:ext uri="{FF2B5EF4-FFF2-40B4-BE49-F238E27FC236}">
                <a16:creationId xmlns:a16="http://schemas.microsoft.com/office/drawing/2014/main" id="{44FAD132-7AC3-F22F-A1B5-04C3D545BB38}"/>
              </a:ext>
            </a:extLst>
          </p:cNvPr>
          <p:cNvSpPr/>
          <p:nvPr/>
        </p:nvSpPr>
        <p:spPr>
          <a:xfrm>
            <a:off x="4318000" y="6477000"/>
            <a:ext cx="7239000" cy="1397000"/>
          </a:xfrm>
          <a:prstGeom prst="rect">
            <a:avLst/>
          </a:prstGeom>
          <a:solidFill>
            <a:srgbClr val="FFFFFF"/>
          </a:solidFill>
          <a:ln w="28575">
            <a:solidFill>
              <a:srgbClr val="A02B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en-US" altLang="zh-CN" sz="24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Cell-state update (192-D)
c</a:t>
            </a:r>
            <a:r>
              <a:rPr lang="en-US" altLang="zh-CN" sz="24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en-US" altLang="zh-CN" sz="2400" b="1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4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f ⊙ c</a:t>
            </a:r>
            <a:r>
              <a:rPr lang="en-US" altLang="zh-CN" sz="24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prev</a:t>
            </a:r>
            <a:r>
              <a:rPr lang="en-US" altLang="zh-CN" sz="2400" b="1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en-US" altLang="zh-CN" sz="24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+ i ⊙ g</a:t>
            </a:r>
            <a:endParaRPr lang="zh-CN" altLang="en-US" sz="24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hidden-update">
            <a:extLst>
              <a:ext uri="{FF2B5EF4-FFF2-40B4-BE49-F238E27FC236}">
                <a16:creationId xmlns:a16="http://schemas.microsoft.com/office/drawing/2014/main" id="{5F295772-5825-C8E9-CF05-A6474B70C4C2}"/>
              </a:ext>
            </a:extLst>
          </p:cNvPr>
          <p:cNvSpPr/>
          <p:nvPr/>
        </p:nvSpPr>
        <p:spPr>
          <a:xfrm>
            <a:off x="4318000" y="8636000"/>
            <a:ext cx="7239000" cy="825500"/>
          </a:xfrm>
          <a:prstGeom prst="rect">
            <a:avLst/>
          </a:prstGeom>
          <a:solidFill>
            <a:srgbClr val="FFFFFF"/>
          </a:solidFill>
          <a:ln w="28575"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88900" rtlCol="0" anchor="ctr">
            <a:noAutofit/>
          </a:bodyPr>
          <a:lstStyle/>
          <a:p>
            <a:pPr algn="ctr"/>
            <a:r>
              <a:rPr lang="pt-BR" altLang="zh-CN" sz="23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</a:t>
            </a:r>
            <a:r>
              <a:rPr lang="pt-BR" altLang="zh-CN" sz="23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pt-BR" altLang="zh-CN" sz="2300" b="1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pt-BR" altLang="zh-CN" sz="23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o ⊙ tanh(c</a:t>
            </a:r>
            <a:r>
              <a:rPr lang="pt-BR" altLang="zh-CN" sz="2300" b="1" baseline="-25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pt-BR" altLang="zh-CN" sz="2300" b="1" baseline="30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pt-BR" altLang="zh-CN" sz="23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    (192-D)</a:t>
            </a:r>
            <a:endParaRPr lang="zh-CN" altLang="en-US" sz="2300" b="1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notation-note">
            <a:extLst>
              <a:ext uri="{FF2B5EF4-FFF2-40B4-BE49-F238E27FC236}">
                <a16:creationId xmlns:a16="http://schemas.microsoft.com/office/drawing/2014/main" id="{1588EFF4-2C17-3B7B-00DB-8992C45001CD}"/>
              </a:ext>
            </a:extLst>
          </p:cNvPr>
          <p:cNvSpPr txBox="1"/>
          <p:nvPr/>
        </p:nvSpPr>
        <p:spPr>
          <a:xfrm>
            <a:off x="508000" y="9548586"/>
            <a:ext cx="14224000" cy="45653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 is diagram shorthand for the concatenated input; ⊙ denotes elementwise multiplication.</a:t>
            </a:r>
            <a:endParaRPr lang="zh-CN" altLang="en-US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gate-layer-0">
            <a:extLst>
              <a:ext uri="{FF2B5EF4-FFF2-40B4-BE49-F238E27FC236}">
                <a16:creationId xmlns:a16="http://schemas.microsoft.com/office/drawing/2014/main" id="{2ECF9862-D4CE-907B-9077-09256D8B0710}"/>
              </a:ext>
            </a:extLst>
          </p:cNvPr>
          <p:cNvSpPr/>
          <p:nvPr/>
        </p:nvSpPr>
        <p:spPr>
          <a:xfrm>
            <a:off x="12446000" y="2603499"/>
            <a:ext cx="2286000" cy="444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3500" tIns="25400" rIns="63500" bIns="2540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 = sigmoid(·)</a:t>
            </a:r>
            <a:endParaRPr lang="zh-CN" altLang="en-US" sz="17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gate-layer-1">
            <a:extLst>
              <a:ext uri="{FF2B5EF4-FFF2-40B4-BE49-F238E27FC236}">
                <a16:creationId xmlns:a16="http://schemas.microsoft.com/office/drawing/2014/main" id="{1C630F2F-91BB-A6D9-1D6B-A19F0DDCEE47}"/>
              </a:ext>
            </a:extLst>
          </p:cNvPr>
          <p:cNvSpPr/>
          <p:nvPr/>
        </p:nvSpPr>
        <p:spPr>
          <a:xfrm>
            <a:off x="12446000" y="3047999"/>
            <a:ext cx="2286000" cy="444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3500" tIns="25400" rIns="63500" bIns="2540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 = sigmoid(·)</a:t>
            </a:r>
            <a:endParaRPr lang="zh-CN" altLang="en-US" sz="17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gate-layer-2">
            <a:extLst>
              <a:ext uri="{FF2B5EF4-FFF2-40B4-BE49-F238E27FC236}">
                <a16:creationId xmlns:a16="http://schemas.microsoft.com/office/drawing/2014/main" id="{DF578EDC-092B-F922-7B6F-B0363509484C}"/>
              </a:ext>
            </a:extLst>
          </p:cNvPr>
          <p:cNvSpPr/>
          <p:nvPr/>
        </p:nvSpPr>
        <p:spPr>
          <a:xfrm>
            <a:off x="12446000" y="3492499"/>
            <a:ext cx="2286000" cy="444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3500" tIns="25400" rIns="63500" bIns="2540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 = tanh(·)</a:t>
            </a:r>
            <a:endParaRPr lang="zh-CN" altLang="en-US" sz="17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gate-layer-3">
            <a:extLst>
              <a:ext uri="{FF2B5EF4-FFF2-40B4-BE49-F238E27FC236}">
                <a16:creationId xmlns:a16="http://schemas.microsoft.com/office/drawing/2014/main" id="{A55ED683-7D68-3AF5-6909-6CAF0CEF0A42}"/>
              </a:ext>
            </a:extLst>
          </p:cNvPr>
          <p:cNvSpPr/>
          <p:nvPr/>
        </p:nvSpPr>
        <p:spPr>
          <a:xfrm>
            <a:off x="12446000" y="3936999"/>
            <a:ext cx="2286000" cy="444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3500" tIns="25400" rIns="63500" bIns="2540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 = sigmoid(·)</a:t>
            </a:r>
            <a:endParaRPr lang="zh-CN" altLang="en-US" sz="17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9409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872</Words>
  <Application>Microsoft Office PowerPoint</Application>
  <PresentationFormat>自定义</PresentationFormat>
  <Paragraphs>59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/>
  <dc:creator/>
  <ns0:lastModifiedBy/>
  <ns0:revision>5</ns0:revision>
  <ns2:created xsi:type="dcterms:W3CDTF">2026-09-17T12:15:09Z</ns2:created>
  <ns2:modified xsi:type="dcterms:W3CDTF">2026-09-17T12:56:13Z</ns2:modified>
</ns0:coreProperties>
</file>